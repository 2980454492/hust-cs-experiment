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1" r:id="rId2"/>
    <p:sldId id="256" r:id="rId3"/>
    <p:sldId id="260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63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68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9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00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29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3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3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80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5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68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9669FCF-CEA0-4A96-BE93-C61A2EFC09E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E315A6D-CF6E-400A-A244-49BBF3DA1E1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37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E6FE350-8EFB-76B3-618E-3AD0FADA2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658"/>
            <a:ext cx="12212688" cy="6936658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0EAE94-5DA9-0830-6758-23C0C2B5E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6" y="4493756"/>
            <a:ext cx="5356124" cy="222897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</a:rPr>
              <a:t>班级：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CS2304</a:t>
            </a:r>
          </a:p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</a:rPr>
              <a:t>学号：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U202315594</a:t>
            </a:r>
          </a:p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</a:rPr>
              <a:t>姓名：贾柠泽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D9D3DA-52C8-7361-48F5-2C3BAA37B892}"/>
              </a:ext>
            </a:extLst>
          </p:cNvPr>
          <p:cNvSpPr/>
          <p:nvPr/>
        </p:nvSpPr>
        <p:spPr>
          <a:xfrm>
            <a:off x="1879034" y="548641"/>
            <a:ext cx="7981673" cy="22467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DHCP</a:t>
            </a:r>
            <a:r>
              <a:rPr lang="zh-CN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协议</a:t>
            </a:r>
            <a:endParaRPr lang="en-US" altLang="zh-CN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endParaRPr lang="en-US" altLang="zh-CN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——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在网络的海洋里，为你点亮唯一的坐标</a:t>
            </a:r>
          </a:p>
        </p:txBody>
      </p:sp>
    </p:spTree>
    <p:extLst>
      <p:ext uri="{BB962C8B-B14F-4D97-AF65-F5344CB8AC3E}">
        <p14:creationId xmlns:p14="http://schemas.microsoft.com/office/powerpoint/2010/main" val="4209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945248BD-8F3E-9586-A973-DD4C1E8E79F2}"/>
              </a:ext>
            </a:extLst>
          </p:cNvPr>
          <p:cNvSpPr txBox="1"/>
          <p:nvPr/>
        </p:nvSpPr>
        <p:spPr>
          <a:xfrm>
            <a:off x="965283" y="993060"/>
            <a:ext cx="271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的基本概念</a:t>
            </a:r>
          </a:p>
        </p:txBody>
      </p:sp>
      <p:sp>
        <p:nvSpPr>
          <p:cNvPr id="33" name="流程图: 接点 32">
            <a:extLst>
              <a:ext uri="{FF2B5EF4-FFF2-40B4-BE49-F238E27FC236}">
                <a16:creationId xmlns:a16="http://schemas.microsoft.com/office/drawing/2014/main" id="{86C39629-C28D-ED4D-B63F-8DA8AC853DF6}"/>
              </a:ext>
            </a:extLst>
          </p:cNvPr>
          <p:cNvSpPr/>
          <p:nvPr/>
        </p:nvSpPr>
        <p:spPr>
          <a:xfrm>
            <a:off x="757084" y="1838633"/>
            <a:ext cx="1848464" cy="9537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39C84EF-AF62-3248-0A23-D8BF19FEA986}"/>
              </a:ext>
            </a:extLst>
          </p:cNvPr>
          <p:cNvSpPr/>
          <p:nvPr/>
        </p:nvSpPr>
        <p:spPr>
          <a:xfrm>
            <a:off x="757084" y="2979174"/>
            <a:ext cx="1848464" cy="3507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全称为 动态主机配置协议，是一个用于</a:t>
            </a:r>
            <a:r>
              <a:rPr lang="en-US" altLang="zh-CN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网络的网络管理协议。其核心功能是自动地为网络中的计算机或其他设备分配</a:t>
            </a:r>
            <a:r>
              <a:rPr lang="en-US" altLang="zh-CN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地址及其他相关的网络配置参数。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A638D142-3322-30B6-EF3F-AB4B83B35F31}"/>
              </a:ext>
            </a:extLst>
          </p:cNvPr>
          <p:cNvSpPr/>
          <p:nvPr/>
        </p:nvSpPr>
        <p:spPr>
          <a:xfrm>
            <a:off x="3515032" y="1838633"/>
            <a:ext cx="1848464" cy="9537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核心功能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066A63D-752B-E821-EDFA-03C6D0544922}"/>
              </a:ext>
            </a:extLst>
          </p:cNvPr>
          <p:cNvSpPr/>
          <p:nvPr/>
        </p:nvSpPr>
        <p:spPr>
          <a:xfrm>
            <a:off x="3515032" y="2979174"/>
            <a:ext cx="1848464" cy="3507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自动为网络中的设备（客户端）分配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地址、子网掩码、网关、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服务器等必要的网络参数。</a:t>
            </a:r>
          </a:p>
        </p:txBody>
      </p: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F80F0DC0-CA88-5B37-1D09-756AF5D56F53}"/>
              </a:ext>
            </a:extLst>
          </p:cNvPr>
          <p:cNvSpPr/>
          <p:nvPr/>
        </p:nvSpPr>
        <p:spPr>
          <a:xfrm>
            <a:off x="6272980" y="1838633"/>
            <a:ext cx="1848464" cy="9537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工作方式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4953274-1899-78CD-95BB-6AA80D6B9270}"/>
              </a:ext>
            </a:extLst>
          </p:cNvPr>
          <p:cNvSpPr/>
          <p:nvPr/>
        </p:nvSpPr>
        <p:spPr>
          <a:xfrm>
            <a:off x="6272980" y="2979174"/>
            <a:ext cx="1848464" cy="3507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采用客户端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服务器（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C/S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）模型，使用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端口进行通信。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客户端监听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UDP 68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端口，服务器监听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UDP 67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端口。</a:t>
            </a:r>
          </a:p>
        </p:txBody>
      </p:sp>
      <p:sp>
        <p:nvSpPr>
          <p:cNvPr id="40" name="流程图: 接点 39">
            <a:extLst>
              <a:ext uri="{FF2B5EF4-FFF2-40B4-BE49-F238E27FC236}">
                <a16:creationId xmlns:a16="http://schemas.microsoft.com/office/drawing/2014/main" id="{AAF2FE10-BB3B-0FF5-D2BC-C42358EBF4BF}"/>
              </a:ext>
            </a:extLst>
          </p:cNvPr>
          <p:cNvSpPr/>
          <p:nvPr/>
        </p:nvSpPr>
        <p:spPr>
          <a:xfrm>
            <a:off x="9030928" y="1838633"/>
            <a:ext cx="1848464" cy="9537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核心价值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417794A-F1C5-1CFA-EC42-1B25BC656848}"/>
              </a:ext>
            </a:extLst>
          </p:cNvPr>
          <p:cNvSpPr/>
          <p:nvPr/>
        </p:nvSpPr>
        <p:spPr>
          <a:xfrm>
            <a:off x="9030928" y="2979174"/>
            <a:ext cx="1848464" cy="3507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实现网络配置的自动化和集中化管理。</a:t>
            </a:r>
          </a:p>
        </p:txBody>
      </p:sp>
    </p:spTree>
    <p:extLst>
      <p:ext uri="{BB962C8B-B14F-4D97-AF65-F5344CB8AC3E}">
        <p14:creationId xmlns:p14="http://schemas.microsoft.com/office/powerpoint/2010/main" val="311460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945248BD-8F3E-9586-A973-DD4C1E8E79F2}"/>
              </a:ext>
            </a:extLst>
          </p:cNvPr>
          <p:cNvSpPr txBox="1"/>
          <p:nvPr/>
        </p:nvSpPr>
        <p:spPr>
          <a:xfrm>
            <a:off x="965283" y="993060"/>
            <a:ext cx="271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的四个阶段</a:t>
            </a:r>
          </a:p>
        </p:txBody>
      </p:sp>
      <p:sp>
        <p:nvSpPr>
          <p:cNvPr id="3" name="卷形: 水平 2">
            <a:extLst>
              <a:ext uri="{FF2B5EF4-FFF2-40B4-BE49-F238E27FC236}">
                <a16:creationId xmlns:a16="http://schemas.microsoft.com/office/drawing/2014/main" id="{EFC690F0-0E0F-549D-8C3D-0A143F82E7C2}"/>
              </a:ext>
            </a:extLst>
          </p:cNvPr>
          <p:cNvSpPr/>
          <p:nvPr/>
        </p:nvSpPr>
        <p:spPr>
          <a:xfrm>
            <a:off x="737420" y="1450258"/>
            <a:ext cx="4886632" cy="270387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发现阶段：客户端在局域网内以广播的方式发起一个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 Discover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包，目的是在子网络中发现能够给客户端提供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地址的服务器。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卷形: 水平 3">
            <a:extLst>
              <a:ext uri="{FF2B5EF4-FFF2-40B4-BE49-F238E27FC236}">
                <a16:creationId xmlns:a16="http://schemas.microsoft.com/office/drawing/2014/main" id="{526D3E75-0E9F-67D7-9720-5AA5FECB84E5}"/>
              </a:ext>
            </a:extLst>
          </p:cNvPr>
          <p:cNvSpPr/>
          <p:nvPr/>
        </p:nvSpPr>
        <p:spPr>
          <a:xfrm>
            <a:off x="6474542" y="1450257"/>
            <a:ext cx="4886632" cy="270387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提供阶段：局域网中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服务器接受到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Discover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包之后，通过发送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offer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包给客户端应答，主要是告知客户端可以提供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地址，以及相应的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地址租约信息和其他配置信息也会在其中。</a:t>
            </a:r>
          </a:p>
        </p:txBody>
      </p:sp>
      <p:sp>
        <p:nvSpPr>
          <p:cNvPr id="5" name="卷形: 水平 4">
            <a:extLst>
              <a:ext uri="{FF2B5EF4-FFF2-40B4-BE49-F238E27FC236}">
                <a16:creationId xmlns:a16="http://schemas.microsoft.com/office/drawing/2014/main" id="{9860F4E4-1478-66C9-A348-C2ED60186C88}"/>
              </a:ext>
            </a:extLst>
          </p:cNvPr>
          <p:cNvSpPr/>
          <p:nvPr/>
        </p:nvSpPr>
        <p:spPr>
          <a:xfrm>
            <a:off x="737420" y="4055806"/>
            <a:ext cx="4886632" cy="270387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请求阶段：在客户端可能会接受到多个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offer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包，通常客户端默认只会接受收到的第一个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offer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报文，然后客户端就会以广播的方式发送一个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request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报文请求分配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地址。</a:t>
            </a:r>
          </a:p>
        </p:txBody>
      </p:sp>
      <p:sp>
        <p:nvSpPr>
          <p:cNvPr id="6" name="卷形: 水平 5">
            <a:extLst>
              <a:ext uri="{FF2B5EF4-FFF2-40B4-BE49-F238E27FC236}">
                <a16:creationId xmlns:a16="http://schemas.microsoft.com/office/drawing/2014/main" id="{D7D8D20C-8DDC-ADDC-A3F7-BC73042D1625}"/>
              </a:ext>
            </a:extLst>
          </p:cNvPr>
          <p:cNvSpPr/>
          <p:nvPr/>
        </p:nvSpPr>
        <p:spPr>
          <a:xfrm>
            <a:off x="6474542" y="4055805"/>
            <a:ext cx="4886632" cy="270387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确认阶段：客户端在收到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request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报文之后，会判断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”option”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字段的服务器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地址是否是自己的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地址，如果符合分配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地址的条件，就会给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client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发送一个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ACK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包，如果不满足就发挥发送一个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DHCP NAK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包。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7F151D-66EC-55E6-3250-ABAE8E6CB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109" y="1653931"/>
            <a:ext cx="5430008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ABE2A9E-C888-2514-F226-2680D617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5" y="5123112"/>
            <a:ext cx="1190791" cy="13336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F5D987-3F0E-5FE9-0308-E2C2676AA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80" y="1711803"/>
            <a:ext cx="1171739" cy="13813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AFA234-3E01-FF30-1CFC-5F3615379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28" y="5149067"/>
            <a:ext cx="1133633" cy="97168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709488C1-0C15-409A-7D71-5A75A4643723}"/>
              </a:ext>
            </a:extLst>
          </p:cNvPr>
          <p:cNvSpPr/>
          <p:nvPr/>
        </p:nvSpPr>
        <p:spPr>
          <a:xfrm>
            <a:off x="280724" y="3479397"/>
            <a:ext cx="1682408" cy="80378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BD0F168-94D7-1A27-BDD6-537A9E227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45" y="2081235"/>
            <a:ext cx="905001" cy="8954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2EFF431-FD96-968A-06AF-B6F5CFC2F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863" y="3690165"/>
            <a:ext cx="800212" cy="666843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2C84C1D-AB3E-367F-E6B6-F06A2F581CF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41246" y="2528973"/>
            <a:ext cx="2975617" cy="14268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EBD0CCD-A409-9C8D-1676-E065184EDCF8}"/>
              </a:ext>
            </a:extLst>
          </p:cNvPr>
          <p:cNvCxnSpPr>
            <a:cxnSpLocks/>
          </p:cNvCxnSpPr>
          <p:nvPr/>
        </p:nvCxnSpPr>
        <p:spPr>
          <a:xfrm>
            <a:off x="5809904" y="4261744"/>
            <a:ext cx="2504735" cy="13778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C019F1A-C2FA-FF93-78C5-10E6101E4EED}"/>
              </a:ext>
            </a:extLst>
          </p:cNvPr>
          <p:cNvCxnSpPr>
            <a:cxnSpLocks/>
          </p:cNvCxnSpPr>
          <p:nvPr/>
        </p:nvCxnSpPr>
        <p:spPr>
          <a:xfrm flipV="1">
            <a:off x="2017405" y="4125729"/>
            <a:ext cx="3099458" cy="14117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EA29FFB-0862-851F-2692-53E8A5A9E461}"/>
              </a:ext>
            </a:extLst>
          </p:cNvPr>
          <p:cNvCxnSpPr>
            <a:cxnSpLocks/>
          </p:cNvCxnSpPr>
          <p:nvPr/>
        </p:nvCxnSpPr>
        <p:spPr>
          <a:xfrm flipH="1">
            <a:off x="5926908" y="2528973"/>
            <a:ext cx="2387731" cy="143892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50EA256-73E5-12CB-A844-35E265673F80}"/>
              </a:ext>
            </a:extLst>
          </p:cNvPr>
          <p:cNvCxnSpPr>
            <a:cxnSpLocks/>
          </p:cNvCxnSpPr>
          <p:nvPr/>
        </p:nvCxnSpPr>
        <p:spPr>
          <a:xfrm flipH="1">
            <a:off x="1013463" y="2845509"/>
            <a:ext cx="317738" cy="5330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32A33086-0171-3D1E-6327-4EA5959C342C}"/>
              </a:ext>
            </a:extLst>
          </p:cNvPr>
          <p:cNvGraphicFramePr>
            <a:graphicFrameLocks noGrp="1"/>
          </p:cNvGraphicFramePr>
          <p:nvPr/>
        </p:nvGraphicFramePr>
        <p:xfrm>
          <a:off x="247308" y="5634910"/>
          <a:ext cx="5848692" cy="87756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5221">
                  <a:extLst>
                    <a:ext uri="{9D8B030D-6E8A-4147-A177-3AD203B41FA5}">
                      <a16:colId xmlns:a16="http://schemas.microsoft.com/office/drawing/2014/main" val="1938986039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43510340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4065251329"/>
                    </a:ext>
                  </a:extLst>
                </a:gridCol>
              </a:tblGrid>
              <a:tr h="30341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000A.F3CB.C301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0.0.0.0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2218"/>
                  </a:ext>
                </a:extLst>
              </a:tr>
              <a:tr h="29982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FFFF.FFFF.FFFF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255.255.255.255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17632"/>
                  </a:ext>
                </a:extLst>
              </a:tr>
              <a:tr h="23953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1891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AA4399F-1F80-D3A9-2A80-DDD0C6EBFB7D}"/>
              </a:ext>
            </a:extLst>
          </p:cNvPr>
          <p:cNvSpPr txBox="1"/>
          <p:nvPr/>
        </p:nvSpPr>
        <p:spPr>
          <a:xfrm>
            <a:off x="7531134" y="3050821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192.168.1.0~192.168.1.127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89D9062-C3F1-BDF3-4AB3-7C3D0C36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746838"/>
            <a:ext cx="7194918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一台新电脑（客户机）连接到网络并开机。它的IP地址设置为0.0.0.0，因为它还不知道自己属于哪个网络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，于是发送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发现报文</a:t>
            </a:r>
            <a:r>
              <a:rPr kumimoji="0" lang="zh-CN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EEA616-206A-0E71-9C99-5BFBDC1E222E}"/>
              </a:ext>
            </a:extLst>
          </p:cNvPr>
          <p:cNvSpPr txBox="1"/>
          <p:nvPr/>
        </p:nvSpPr>
        <p:spPr>
          <a:xfrm>
            <a:off x="965283" y="993060"/>
            <a:ext cx="2351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发现过程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42992B-4576-9FC3-133F-C8B9A3078E5E}"/>
              </a:ext>
            </a:extLst>
          </p:cNvPr>
          <p:cNvSpPr txBox="1"/>
          <p:nvPr/>
        </p:nvSpPr>
        <p:spPr>
          <a:xfrm>
            <a:off x="7382996" y="6362446"/>
            <a:ext cx="2961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192.168.1.128~192.168.1.255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1748A560-4A40-18CE-1BB6-01CD3082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2019" y="865824"/>
            <a:ext cx="719491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交换机收到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发现报文，并检查到是一个这广播帧，于是广播出去。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3D53BEEA-6F18-5801-3E00-B17E103FC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919184"/>
            <a:ext cx="719491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路由器检查目的端口，不是发给自己的，直接丢弃。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4CD40894-32DE-EE30-0A05-965FDD7B8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66" y="912830"/>
            <a:ext cx="719491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分别发送给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和服务器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，均成功接收。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60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7 L 0.22956 -0.2444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71" y="-1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decel="100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56 -0.24444 L -0.00273 -0.50972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15" y="-1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decel="100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decel="100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-0.50972 L 0.22956 -0.24444 " pathEditMode="relative" rAng="0" ptsTypes="AA">
                                      <p:cBhvr>
                                        <p:cTn id="7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10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50"/>
                            </p:stCondLst>
                            <p:childTnLst>
                              <p:par>
                                <p:cTn id="8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73 -0.24769 L 0.46562 -0.49283 " pathEditMode="relative" ptsTypes="AA">
                                      <p:cBhvr>
                                        <p:cTn id="8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002 -0.48843 L 0.22851 -0.24468 " pathEditMode="relative" ptsTypes="AA">
                                      <p:cBhvr>
                                        <p:cTn id="95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5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250"/>
                            </p:stCondLst>
                            <p:childTnLst>
                              <p:par>
                                <p:cTn id="10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448 -0.25486 L 0.49544 -0.01389 " pathEditMode="relative" ptsTypes="AA">
                                      <p:cBhvr>
                                        <p:cTn id="10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250"/>
                            </p:stCondLst>
                            <p:childTnLst>
                              <p:par>
                                <p:cTn id="10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26" grpId="0" build="allAtOnce"/>
      <p:bldP spid="2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ABE2A9E-C888-2514-F226-2680D617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5" y="5123112"/>
            <a:ext cx="1190791" cy="13336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F5D987-3F0E-5FE9-0308-E2C2676AA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80" y="1711803"/>
            <a:ext cx="1171739" cy="13813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AFA234-3E01-FF30-1CFC-5F3615379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28" y="5149067"/>
            <a:ext cx="1133633" cy="97168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709488C1-0C15-409A-7D71-5A75A4643723}"/>
              </a:ext>
            </a:extLst>
          </p:cNvPr>
          <p:cNvSpPr/>
          <p:nvPr/>
        </p:nvSpPr>
        <p:spPr>
          <a:xfrm>
            <a:off x="280724" y="3479397"/>
            <a:ext cx="1682408" cy="80378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BD0F168-94D7-1A27-BDD6-537A9E227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45" y="2081235"/>
            <a:ext cx="905001" cy="8954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2EFF431-FD96-968A-06AF-B6F5CFC2F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863" y="3690165"/>
            <a:ext cx="800212" cy="666843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2C84C1D-AB3E-367F-E6B6-F06A2F581CF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41246" y="2528973"/>
            <a:ext cx="2975617" cy="14268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EBD0CCD-A409-9C8D-1676-E065184EDCF8}"/>
              </a:ext>
            </a:extLst>
          </p:cNvPr>
          <p:cNvCxnSpPr>
            <a:cxnSpLocks/>
          </p:cNvCxnSpPr>
          <p:nvPr/>
        </p:nvCxnSpPr>
        <p:spPr>
          <a:xfrm>
            <a:off x="5809904" y="4261744"/>
            <a:ext cx="2504735" cy="13778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C019F1A-C2FA-FF93-78C5-10E6101E4EED}"/>
              </a:ext>
            </a:extLst>
          </p:cNvPr>
          <p:cNvCxnSpPr>
            <a:cxnSpLocks/>
          </p:cNvCxnSpPr>
          <p:nvPr/>
        </p:nvCxnSpPr>
        <p:spPr>
          <a:xfrm flipV="1">
            <a:off x="2017405" y="4125729"/>
            <a:ext cx="3099458" cy="14117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EA29FFB-0862-851F-2692-53E8A5A9E461}"/>
              </a:ext>
            </a:extLst>
          </p:cNvPr>
          <p:cNvCxnSpPr>
            <a:cxnSpLocks/>
          </p:cNvCxnSpPr>
          <p:nvPr/>
        </p:nvCxnSpPr>
        <p:spPr>
          <a:xfrm flipH="1">
            <a:off x="5926908" y="2528973"/>
            <a:ext cx="2387731" cy="143892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50EA256-73E5-12CB-A844-35E265673F80}"/>
              </a:ext>
            </a:extLst>
          </p:cNvPr>
          <p:cNvCxnSpPr>
            <a:cxnSpLocks/>
          </p:cNvCxnSpPr>
          <p:nvPr/>
        </p:nvCxnSpPr>
        <p:spPr>
          <a:xfrm flipH="1">
            <a:off x="1013463" y="2845509"/>
            <a:ext cx="317738" cy="5330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32A33086-0171-3D1E-6327-4EA5959C3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444469"/>
              </p:ext>
            </p:extLst>
          </p:nvPr>
        </p:nvGraphicFramePr>
        <p:xfrm>
          <a:off x="6096000" y="2091399"/>
          <a:ext cx="5848692" cy="84846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5221">
                  <a:extLst>
                    <a:ext uri="{9D8B030D-6E8A-4147-A177-3AD203B41FA5}">
                      <a16:colId xmlns:a16="http://schemas.microsoft.com/office/drawing/2014/main" val="1938986039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43510340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4065251329"/>
                    </a:ext>
                  </a:extLst>
                </a:gridCol>
              </a:tblGrid>
              <a:tr h="17531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0002.170C.C7E8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192.168.1.2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2218"/>
                  </a:ext>
                </a:extLst>
              </a:tr>
              <a:tr h="29982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000A.F3CB.C301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255.255.255.255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17632"/>
                  </a:ext>
                </a:extLst>
              </a:tr>
              <a:tr h="23953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1891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AA4399F-1F80-D3A9-2A80-DDD0C6EBFB7D}"/>
              </a:ext>
            </a:extLst>
          </p:cNvPr>
          <p:cNvSpPr txBox="1"/>
          <p:nvPr/>
        </p:nvSpPr>
        <p:spPr>
          <a:xfrm>
            <a:off x="7531134" y="3050821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192.168.1.0~192.168.1.127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EEA616-206A-0E71-9C99-5BFBDC1E222E}"/>
              </a:ext>
            </a:extLst>
          </p:cNvPr>
          <p:cNvSpPr txBox="1"/>
          <p:nvPr/>
        </p:nvSpPr>
        <p:spPr>
          <a:xfrm>
            <a:off x="965283" y="993060"/>
            <a:ext cx="2351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提供过程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42992B-4576-9FC3-133F-C8B9A3078E5E}"/>
              </a:ext>
            </a:extLst>
          </p:cNvPr>
          <p:cNvSpPr txBox="1"/>
          <p:nvPr/>
        </p:nvSpPr>
        <p:spPr>
          <a:xfrm>
            <a:off x="7382996" y="6362446"/>
            <a:ext cx="2961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192.168.1.128~192.168.1.255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3D53BEEA-6F18-5801-3E00-B17E103FC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796073"/>
            <a:ext cx="7194918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率先收到发现报文，并先发出提供报文，并给主机分配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地址。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7510707-CEE0-9385-7B08-56DD4A288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995317"/>
              </p:ext>
            </p:extLst>
          </p:nvPr>
        </p:nvGraphicFramePr>
        <p:xfrm>
          <a:off x="6096000" y="5213077"/>
          <a:ext cx="5848692" cy="84846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5221">
                  <a:extLst>
                    <a:ext uri="{9D8B030D-6E8A-4147-A177-3AD203B41FA5}">
                      <a16:colId xmlns:a16="http://schemas.microsoft.com/office/drawing/2014/main" val="1938986039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43510340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4065251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00E0.B055.1489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192.168.1.3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2218"/>
                  </a:ext>
                </a:extLst>
              </a:tr>
              <a:tr h="29982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000A.F3CB.C301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255.255.255.255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17632"/>
                  </a:ext>
                </a:extLst>
              </a:tr>
              <a:tr h="23953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18912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3072E029-1EEF-92A3-9BA2-27DF26069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926881"/>
            <a:ext cx="719491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随后也发出提供报文，并给主机分配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192.168.1.128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地址。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11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-0.24309 0.25486 L -0.49687 0.48379 " pathEditMode="relative" rAng="0" ptsTypes="AAA">
                                      <p:cBhvr>
                                        <p:cTn id="1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44" y="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3 0.00093 L -0.23346 -0.20694 L -0.4931 0.02107 " pathEditMode="relative" ptsTypes="AAA">
                                      <p:cBhvr>
                                        <p:cTn id="4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ABE2A9E-C888-2514-F226-2680D617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5" y="5123112"/>
            <a:ext cx="1190791" cy="13336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F5D987-3F0E-5FE9-0308-E2C2676AA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80" y="1711803"/>
            <a:ext cx="1171739" cy="13813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AFA234-3E01-FF30-1CFC-5F3615379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28" y="5149067"/>
            <a:ext cx="1133633" cy="97168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709488C1-0C15-409A-7D71-5A75A4643723}"/>
              </a:ext>
            </a:extLst>
          </p:cNvPr>
          <p:cNvSpPr/>
          <p:nvPr/>
        </p:nvSpPr>
        <p:spPr>
          <a:xfrm>
            <a:off x="280724" y="3479397"/>
            <a:ext cx="1682408" cy="80378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BD0F168-94D7-1A27-BDD6-537A9E227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45" y="2081235"/>
            <a:ext cx="905001" cy="8954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2EFF431-FD96-968A-06AF-B6F5CFC2F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863" y="3690165"/>
            <a:ext cx="800212" cy="666843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2C84C1D-AB3E-367F-E6B6-F06A2F581CF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41246" y="2528973"/>
            <a:ext cx="2975617" cy="14268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EBD0CCD-A409-9C8D-1676-E065184EDCF8}"/>
              </a:ext>
            </a:extLst>
          </p:cNvPr>
          <p:cNvCxnSpPr>
            <a:cxnSpLocks/>
          </p:cNvCxnSpPr>
          <p:nvPr/>
        </p:nvCxnSpPr>
        <p:spPr>
          <a:xfrm>
            <a:off x="5809904" y="4261744"/>
            <a:ext cx="2504735" cy="13778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C019F1A-C2FA-FF93-78C5-10E6101E4EED}"/>
              </a:ext>
            </a:extLst>
          </p:cNvPr>
          <p:cNvCxnSpPr>
            <a:cxnSpLocks/>
          </p:cNvCxnSpPr>
          <p:nvPr/>
        </p:nvCxnSpPr>
        <p:spPr>
          <a:xfrm flipV="1">
            <a:off x="2017405" y="4125729"/>
            <a:ext cx="3099458" cy="14117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EA29FFB-0862-851F-2692-53E8A5A9E461}"/>
              </a:ext>
            </a:extLst>
          </p:cNvPr>
          <p:cNvCxnSpPr>
            <a:cxnSpLocks/>
          </p:cNvCxnSpPr>
          <p:nvPr/>
        </p:nvCxnSpPr>
        <p:spPr>
          <a:xfrm flipH="1">
            <a:off x="5926908" y="2528973"/>
            <a:ext cx="2387731" cy="143892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50EA256-73E5-12CB-A844-35E265673F80}"/>
              </a:ext>
            </a:extLst>
          </p:cNvPr>
          <p:cNvCxnSpPr>
            <a:cxnSpLocks/>
          </p:cNvCxnSpPr>
          <p:nvPr/>
        </p:nvCxnSpPr>
        <p:spPr>
          <a:xfrm flipH="1">
            <a:off x="1013463" y="2845509"/>
            <a:ext cx="317738" cy="5330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AA4399F-1F80-D3A9-2A80-DDD0C6EBFB7D}"/>
              </a:ext>
            </a:extLst>
          </p:cNvPr>
          <p:cNvSpPr txBox="1"/>
          <p:nvPr/>
        </p:nvSpPr>
        <p:spPr>
          <a:xfrm>
            <a:off x="7531134" y="3050821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192.168.1.0~192.168.1.127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EEA616-206A-0E71-9C99-5BFBDC1E222E}"/>
              </a:ext>
            </a:extLst>
          </p:cNvPr>
          <p:cNvSpPr txBox="1"/>
          <p:nvPr/>
        </p:nvSpPr>
        <p:spPr>
          <a:xfrm>
            <a:off x="965283" y="993060"/>
            <a:ext cx="2351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请求过程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42992B-4576-9FC3-133F-C8B9A3078E5E}"/>
              </a:ext>
            </a:extLst>
          </p:cNvPr>
          <p:cNvSpPr txBox="1"/>
          <p:nvPr/>
        </p:nvSpPr>
        <p:spPr>
          <a:xfrm>
            <a:off x="7382996" y="6362446"/>
            <a:ext cx="2961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可分配地址：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192.168.1.128~192.168.1.255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3D53BEEA-6F18-5801-3E00-B17E103FC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796073"/>
            <a:ext cx="7194918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主机会优先使用第一个收到的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提供报文中的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地址，即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192.168.1.4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，并广播告知所有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6830D3-4807-6EB5-CBF7-ACE56066A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04275"/>
              </p:ext>
            </p:extLst>
          </p:nvPr>
        </p:nvGraphicFramePr>
        <p:xfrm>
          <a:off x="247308" y="5586602"/>
          <a:ext cx="5848692" cy="87756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5221">
                  <a:extLst>
                    <a:ext uri="{9D8B030D-6E8A-4147-A177-3AD203B41FA5}">
                      <a16:colId xmlns:a16="http://schemas.microsoft.com/office/drawing/2014/main" val="1938986039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43510340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4065251329"/>
                    </a:ext>
                  </a:extLst>
                </a:gridCol>
              </a:tblGrid>
              <a:tr h="30341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000A.F3CB.C301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0.0.0.0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2218"/>
                  </a:ext>
                </a:extLst>
              </a:tr>
              <a:tr h="29982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FFFF.FFFF.FFFF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255.255.255.255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17632"/>
                  </a:ext>
                </a:extLst>
              </a:tr>
              <a:tr h="23953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1891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DFEAFE8-9D07-0083-0DD3-B278664B4731}"/>
              </a:ext>
            </a:extLst>
          </p:cNvPr>
          <p:cNvSpPr txBox="1"/>
          <p:nvPr/>
        </p:nvSpPr>
        <p:spPr>
          <a:xfrm>
            <a:off x="965283" y="993541"/>
            <a:ext cx="2351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DHCP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确认过程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61C179D-2BDC-3A84-3905-C454AD0A8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627929"/>
              </p:ext>
            </p:extLst>
          </p:nvPr>
        </p:nvGraphicFramePr>
        <p:xfrm>
          <a:off x="6102381" y="2159435"/>
          <a:ext cx="5848692" cy="84846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35221">
                  <a:extLst>
                    <a:ext uri="{9D8B030D-6E8A-4147-A177-3AD203B41FA5}">
                      <a16:colId xmlns:a16="http://schemas.microsoft.com/office/drawing/2014/main" val="1938986039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43510340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4065251329"/>
                    </a:ext>
                  </a:extLst>
                </a:gridCol>
              </a:tblGrid>
              <a:tr h="17531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0002.170C.C7E8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192.168.1.2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67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2218"/>
                  </a:ext>
                </a:extLst>
              </a:tr>
              <a:tr h="299826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000A.F3CB.C301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255.255.255.255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目的端口：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17632"/>
                  </a:ext>
                </a:extLst>
              </a:tr>
              <a:tr h="239539"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广播</a:t>
                      </a:r>
                      <a:r>
                        <a:rPr lang="en-US" altLang="zh-CN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</a:t>
                      </a:r>
                      <a:r>
                        <a:rPr lang="zh-CN" altLang="en-US" sz="1200" b="1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1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1891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F078B276-78D1-BBAF-0422-E7FEA9626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799" y="835705"/>
            <a:ext cx="7194918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被选中的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DHCP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发送确认报文，其他服务器则丢弃报文，并收回之前发出的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r>
              <a:rPr kumimoji="0" lang="en-US" altLang="zh-CN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192.168.1.128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0" lang="zh-CN" altLang="zh-CN" sz="16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77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37 0.00162 L 0.21549 -0.27916 L 0.49466 -0.49421 L 0.49466 -0.49421 " pathEditMode="relative" ptsTypes="AA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544 -0.49861 L 0.01484 -0.00116 " pathEditMode="relative" ptsTypes="AA">
                                      <p:cBhvr>
                                        <p:cTn id="2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1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1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31 -0.00116 L 0.21406 -0.27778 L 0.48502 -0.01551 L 0.48502 -0.01551 " pathEditMode="relative" ptsTypes="AAAA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1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7037E-7 L -0.24309 0.25486 L -0.49687 0.4838 " pathEditMode="relative" rAng="0" ptsTypes="AAA">
                                      <p:cBhvr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44" y="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27" grpId="1"/>
      <p:bldP spid="7" grpId="1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250</TotalTime>
  <Words>778</Words>
  <Application>Microsoft Office PowerPoint</Application>
  <PresentationFormat>宽屏</PresentationFormat>
  <Paragraphs>82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黑体</vt:lpstr>
      <vt:lpstr>Arial</vt:lpstr>
      <vt:lpstr>Times New Roman</vt:lpstr>
      <vt:lpstr>Tw Cen MT</vt:lpstr>
      <vt:lpstr>Tw Cen MT Condensed</vt:lpstr>
      <vt:lpstr>Wingdings 3</vt:lpstr>
      <vt:lpstr>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柠泽 贾</dc:creator>
  <cp:lastModifiedBy>柠泽 贾</cp:lastModifiedBy>
  <cp:revision>5</cp:revision>
  <dcterms:created xsi:type="dcterms:W3CDTF">2025-11-30T08:15:19Z</dcterms:created>
  <dcterms:modified xsi:type="dcterms:W3CDTF">2025-12-01T09:01:51Z</dcterms:modified>
</cp:coreProperties>
</file>